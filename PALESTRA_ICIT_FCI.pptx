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2"/>
  </p:notesMasterIdLst>
  <p:sldIdLst>
    <p:sldId id="461" r:id="rId2"/>
    <p:sldId id="449" r:id="rId3"/>
    <p:sldId id="464" r:id="rId4"/>
    <p:sldId id="453" r:id="rId5"/>
    <p:sldId id="454" r:id="rId6"/>
    <p:sldId id="455" r:id="rId7"/>
    <p:sldId id="465" r:id="rId8"/>
    <p:sldId id="466" r:id="rId9"/>
    <p:sldId id="462" r:id="rId10"/>
    <p:sldId id="4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E3F3"/>
    <a:srgbClr val="AAC6E8"/>
    <a:srgbClr val="009999"/>
    <a:srgbClr val="7030A0"/>
    <a:srgbClr val="800080"/>
    <a:srgbClr val="0A3CAA"/>
    <a:srgbClr val="0038A8"/>
    <a:srgbClr val="CE181E"/>
    <a:srgbClr val="33CCCC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4" autoAdjust="0"/>
    <p:restoredTop sz="94660"/>
  </p:normalViewPr>
  <p:slideViewPr>
    <p:cSldViewPr snapToGrid="0">
      <p:cViewPr varScale="1">
        <p:scale>
          <a:sx n="61" d="100"/>
          <a:sy n="61" d="100"/>
        </p:scale>
        <p:origin x="978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BAB898-A920-4528-8E0D-88EB55CE759D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838B25-CECE-4EC9-BEB0-4906514D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467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Universidade Presbiteriana Mackenzie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D3C51-E43C-41C0-9EA4-E8C681799A4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9621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Universidade Presbiteriana Mackenzie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D3C51-E43C-41C0-9EA4-E8C681799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215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Universidade Presbiteriana Mackenzie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D3C51-E43C-41C0-9EA4-E8C681799A4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5396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Universidade Presbiteriana Mackenzie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D3C51-E43C-41C0-9EA4-E8C681799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948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Universidade Presbiteriana Mackenzie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D3C51-E43C-41C0-9EA4-E8C681799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296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Universidade Presbiteriana Mackenzie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D3C51-E43C-41C0-9EA4-E8C681799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193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538152"/>
            <a:ext cx="12188825" cy="319848"/>
          </a:xfrm>
          <a:prstGeom prst="rect">
            <a:avLst/>
          </a:prstGeom>
          <a:solidFill>
            <a:srgbClr val="CE18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494645"/>
            <a:ext cx="12188825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686185" y="6569476"/>
            <a:ext cx="4822804" cy="25543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pt-BR"/>
              <a:t>Universidade Presbiteriana Mackenzie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900458" y="6569476"/>
            <a:ext cx="1312025" cy="255434"/>
          </a:xfrm>
        </p:spPr>
        <p:txBody>
          <a:bodyPr/>
          <a:lstStyle/>
          <a:p>
            <a:fld id="{C05D3C51-E43C-41C0-9EA4-E8C681799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348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rgbClr val="CE18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pt-BR"/>
              <a:t>Universidade Presbiteriana Mackenzie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05D3C51-E43C-41C0-9EA4-E8C681799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827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Universidade Presbiteriana Mackenzie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D3C51-E43C-41C0-9EA4-E8C681799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296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Universidade Presbiteriana Mackenzie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D3C51-E43C-41C0-9EA4-E8C681799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518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Universidade Presbiteriana Mackenzie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D3C51-E43C-41C0-9EA4-E8C681799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481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pt-BR"/>
              <a:t>Universidade Presbiteriana Mackenzie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05D3C51-E43C-41C0-9EA4-E8C681799A4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6413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A29DBFF-8874-4163-496A-1BC171F208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731520"/>
            <a:ext cx="4206240" cy="5257800"/>
          </a:xfrm>
          <a:prstGeom prst="rect">
            <a:avLst/>
          </a:prstGeom>
          <a:noFill/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7DF5244-E7B0-4769-E19C-DE022DC89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pt-BR"/>
              <a:t>Universidade Presbiteriana Mackenzie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2440D8-F14A-CEBF-7336-EFD3F30FE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05D3C51-E43C-41C0-9EA4-E8C681799A45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899DF20-8690-8699-148D-A0E611997937}"/>
              </a:ext>
            </a:extLst>
          </p:cNvPr>
          <p:cNvGrpSpPr/>
          <p:nvPr/>
        </p:nvGrpSpPr>
        <p:grpSpPr>
          <a:xfrm>
            <a:off x="102476" y="1353067"/>
            <a:ext cx="3922472" cy="3409309"/>
            <a:chOff x="215188" y="701918"/>
            <a:chExt cx="3922472" cy="3409309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931E480-9B16-62E4-5363-13EDE66B763A}"/>
                </a:ext>
              </a:extLst>
            </p:cNvPr>
            <p:cNvGrpSpPr/>
            <p:nvPr/>
          </p:nvGrpSpPr>
          <p:grpSpPr>
            <a:xfrm>
              <a:off x="215188" y="3589684"/>
              <a:ext cx="3922472" cy="521543"/>
              <a:chOff x="142036" y="3980921"/>
              <a:chExt cx="3922472" cy="521543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D79F275-6EA6-614E-8A84-4A43869F9812}"/>
                  </a:ext>
                </a:extLst>
              </p:cNvPr>
              <p:cNvSpPr txBox="1"/>
              <p:nvPr/>
            </p:nvSpPr>
            <p:spPr>
              <a:xfrm>
                <a:off x="142036" y="3980921"/>
                <a:ext cx="3922472" cy="3268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0000" tIns="45000" rIns="90000" bIns="45000" anchorCtr="0" compatLnSpc="0">
                <a:spAutoFit/>
              </a:bodyPr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r>
                  <a:rPr lang="pt-BR" sz="1600" b="1" i="0" u="none" strike="noStrike" kern="1200" cap="none" dirty="0">
                    <a:ln>
                      <a:noFill/>
                    </a:ln>
                    <a:solidFill>
                      <a:srgbClr val="FFFFFF"/>
                    </a:solidFill>
                    <a:latin typeface="Liberation Sans" pitchFamily="18"/>
                    <a:ea typeface="AR PL SungtiL GB" pitchFamily="2"/>
                    <a:cs typeface="Lohit Devanagari" pitchFamily="2"/>
                  </a:rPr>
                  <a:t>Universidade Presbiteriana Mackenzie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7934E01-D56A-1E68-6284-1F8DFA42CA76}"/>
                  </a:ext>
                </a:extLst>
              </p:cNvPr>
              <p:cNvSpPr txBox="1"/>
              <p:nvPr/>
            </p:nvSpPr>
            <p:spPr>
              <a:xfrm>
                <a:off x="142036" y="4249361"/>
                <a:ext cx="2894360" cy="2531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0000" tIns="45000" rIns="90000" bIns="45000" anchorCtr="0" compatLnSpc="0">
                <a:spAutoFit/>
              </a:bodyPr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r>
                  <a:rPr lang="pt-BR" sz="1100" b="1" i="0" u="none" strike="noStrike" kern="1200" cap="none" dirty="0">
                    <a:ln>
                      <a:noFill/>
                    </a:ln>
                    <a:solidFill>
                      <a:srgbClr val="FFFFFF"/>
                    </a:solidFill>
                    <a:latin typeface="Liberation Sans" pitchFamily="18"/>
                    <a:ea typeface="AR PL SungtiL GB" pitchFamily="2"/>
                    <a:cs typeface="Lohit Devanagari" pitchFamily="2"/>
                  </a:rPr>
                  <a:t>Faculdade de Computação e Informática</a:t>
                </a:r>
              </a:p>
            </p:txBody>
          </p:sp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4A5BD0B-F2FE-2DEA-8349-F5D17D8F25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/>
              <a:alphaModFix/>
            </a:blip>
            <a:srcRect/>
            <a:stretch>
              <a:fillRect/>
            </a:stretch>
          </p:blipFill>
          <p:spPr>
            <a:xfrm>
              <a:off x="713574" y="701918"/>
              <a:ext cx="2847976" cy="2887766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65122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B5C5B4-BB1C-426C-A40B-F2C93A20F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Universidade Presbiteriana Mackenzie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4D7A21-71C4-4253-B6B0-10193FDBD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D3C51-E43C-41C0-9EA4-E8C681799A45}" type="slidenum">
              <a:rPr lang="en-US" smtClean="0"/>
              <a:t>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462979-A7B2-4A9C-9448-7D8E0F21E68A}"/>
              </a:ext>
            </a:extLst>
          </p:cNvPr>
          <p:cNvSpPr txBox="1"/>
          <p:nvPr/>
        </p:nvSpPr>
        <p:spPr>
          <a:xfrm>
            <a:off x="782156" y="288524"/>
            <a:ext cx="107424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/>
              <a:t>Programas de Iniciação Científica e de </a:t>
            </a:r>
          </a:p>
          <a:p>
            <a:r>
              <a:rPr lang="pt-BR" sz="3600" b="1" dirty="0"/>
              <a:t>Iniciação Tecnológica e Inovação 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D7316A-3FFD-4EA2-B61E-93162281CC5C}"/>
              </a:ext>
            </a:extLst>
          </p:cNvPr>
          <p:cNvSpPr txBox="1"/>
          <p:nvPr/>
        </p:nvSpPr>
        <p:spPr>
          <a:xfrm>
            <a:off x="782157" y="1870472"/>
            <a:ext cx="10742436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dirty="0"/>
              <a:t>É destinado a complementar a formação regular do aluno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dirty="0"/>
              <a:t>Importante para: bolsas, internacionalização, carreira acadêmica ou profissional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28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4CE622E-085F-0C7A-39A2-F005A195EAE0}"/>
              </a:ext>
            </a:extLst>
          </p:cNvPr>
          <p:cNvGrpSpPr/>
          <p:nvPr/>
        </p:nvGrpSpPr>
        <p:grpSpPr>
          <a:xfrm>
            <a:off x="7914289" y="4343738"/>
            <a:ext cx="3168869" cy="1504823"/>
            <a:chOff x="4031532" y="4940568"/>
            <a:chExt cx="1965788" cy="914400"/>
          </a:xfrm>
        </p:grpSpPr>
        <p:pic>
          <p:nvPicPr>
            <p:cNvPr id="5" name="Graphic 4" descr="Search Inventory with solid fill">
              <a:extLst>
                <a:ext uri="{FF2B5EF4-FFF2-40B4-BE49-F238E27FC236}">
                  <a16:creationId xmlns:a16="http://schemas.microsoft.com/office/drawing/2014/main" id="{816C2EC8-1349-ED49-CE6B-BACCC1C49B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082920" y="4940568"/>
              <a:ext cx="914400" cy="914400"/>
            </a:xfrm>
            <a:prstGeom prst="rect">
              <a:avLst/>
            </a:prstGeom>
          </p:spPr>
        </p:pic>
        <p:pic>
          <p:nvPicPr>
            <p:cNvPr id="6" name="Graphic 5" descr="Microscope with solid fill">
              <a:extLst>
                <a:ext uri="{FF2B5EF4-FFF2-40B4-BE49-F238E27FC236}">
                  <a16:creationId xmlns:a16="http://schemas.microsoft.com/office/drawing/2014/main" id="{9F839906-91EA-1603-3250-0DFE8694DD6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031532" y="4940568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42228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81D1A-5EFF-71A5-C6B0-E1E934D77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0A72234-85F3-9490-08F0-DF5D12E53B33}"/>
              </a:ext>
            </a:extLst>
          </p:cNvPr>
          <p:cNvSpPr txBox="1"/>
          <p:nvPr/>
        </p:nvSpPr>
        <p:spPr>
          <a:xfrm>
            <a:off x="6200951" y="3429000"/>
            <a:ext cx="508148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solidFill>
                  <a:schemeClr val="accent1"/>
                </a:solidFill>
              </a:rPr>
              <a:t>Tecnológica e Inovação</a:t>
            </a:r>
          </a:p>
          <a:p>
            <a:endParaRPr lang="pt-BR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Desenvolvimento de Aplicações e Produtos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Criação de Processos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Avaliação de Tecnologias</a:t>
            </a:r>
          </a:p>
          <a:p>
            <a:endParaRPr lang="pt-BR" sz="24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9502D28-C191-D9B3-118A-5BA2674B9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Universidade Presbiteriana Mackenzie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E2046B-37AA-D6B5-92E0-88F998952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D3C51-E43C-41C0-9EA4-E8C681799A45}" type="slidenum">
              <a:rPr lang="en-US" smtClean="0"/>
              <a:t>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7FD881-92A0-6F52-8559-ED4118FD0A12}"/>
              </a:ext>
            </a:extLst>
          </p:cNvPr>
          <p:cNvSpPr txBox="1"/>
          <p:nvPr/>
        </p:nvSpPr>
        <p:spPr>
          <a:xfrm>
            <a:off x="782156" y="288524"/>
            <a:ext cx="107424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/>
              <a:t>Iniciação Científica X Iniciação Tecnológica e Inovação 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9D840-806C-59D3-B282-67494A8C1DA7}"/>
              </a:ext>
            </a:extLst>
          </p:cNvPr>
          <p:cNvSpPr txBox="1"/>
          <p:nvPr/>
        </p:nvSpPr>
        <p:spPr>
          <a:xfrm>
            <a:off x="782157" y="1224081"/>
            <a:ext cx="10742436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b="1" dirty="0"/>
              <a:t>Iniciação Científica</a:t>
            </a:r>
            <a:r>
              <a:rPr lang="pt-BR" sz="2800" dirty="0"/>
              <a:t>: Prioriza a produção e o pensamento científico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b="1" dirty="0"/>
              <a:t>Iniciação Tecnológica e Inovação</a:t>
            </a:r>
            <a:r>
              <a:rPr lang="pt-BR" sz="2800" dirty="0"/>
              <a:t>: Prioriza o penar tecnológico e de inovação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990401-CE47-8FB3-EEC6-FB4C307FD136}"/>
              </a:ext>
            </a:extLst>
          </p:cNvPr>
          <p:cNvSpPr txBox="1"/>
          <p:nvPr/>
        </p:nvSpPr>
        <p:spPr>
          <a:xfrm>
            <a:off x="1168247" y="3433014"/>
            <a:ext cx="4822804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solidFill>
                  <a:schemeClr val="accent1"/>
                </a:solidFill>
              </a:rPr>
              <a:t>Iniciação Científica</a:t>
            </a:r>
          </a:p>
          <a:p>
            <a:endParaRPr lang="pt-BR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Revisão de Literatura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Pesquisas Quantitativas e Qualitativas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Pergunta da Pesquisa?</a:t>
            </a:r>
          </a:p>
          <a:p>
            <a:endParaRPr lang="pt-BR" sz="24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90C4493-A423-A78A-817D-D7CCA6550B93}"/>
              </a:ext>
            </a:extLst>
          </p:cNvPr>
          <p:cNvCxnSpPr/>
          <p:nvPr/>
        </p:nvCxnSpPr>
        <p:spPr>
          <a:xfrm>
            <a:off x="782156" y="4162097"/>
            <a:ext cx="106320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8525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5E4BC-45D5-0A14-445B-681CF5F90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1EB4248-46E8-3C4F-4807-7D0E9B172A13}"/>
              </a:ext>
            </a:extLst>
          </p:cNvPr>
          <p:cNvSpPr txBox="1"/>
          <p:nvPr/>
        </p:nvSpPr>
        <p:spPr>
          <a:xfrm>
            <a:off x="6096000" y="253814"/>
            <a:ext cx="5762289" cy="5729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pt-BR" sz="1600" b="1" cap="all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TÍTULO DO SEU projeto</a:t>
            </a:r>
            <a:endParaRPr lang="pt-BR" b="1" cap="all" dirty="0">
              <a:solidFill>
                <a:srgbClr val="0F4761"/>
              </a:solidFill>
              <a:effectLst/>
              <a:latin typeface="Arial" panose="020B06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800"/>
              </a:spcAft>
            </a:pPr>
            <a:r>
              <a:rPr lang="pt-BR" sz="2800" b="1" dirty="0">
                <a:solidFill>
                  <a:schemeClr val="accent1"/>
                </a:solidFill>
              </a:rPr>
              <a:t>Tecnológica e Inovação</a:t>
            </a:r>
          </a:p>
          <a:p>
            <a:pPr algn="just">
              <a:spcAft>
                <a:spcPts val="800"/>
              </a:spcAft>
              <a:buNone/>
            </a:pPr>
            <a:endParaRPr lang="pt-PT" sz="1600" b="1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Aptos" panose="020B0004020202020204" pitchFamily="34" charset="0"/>
              <a:ea typeface="Calibri" panose="020F0502020204030204" pitchFamily="34" charset="0"/>
              <a:cs typeface="Aptos" panose="020B0004020202020204" pitchFamily="34" charset="0"/>
            </a:endParaRPr>
          </a:p>
          <a:p>
            <a:pPr algn="just">
              <a:spcAft>
                <a:spcPts val="800"/>
              </a:spcAft>
              <a:buNone/>
            </a:pPr>
            <a:r>
              <a:rPr lang="pt-PT" sz="1600" b="1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Resumo </a:t>
            </a:r>
            <a:endParaRPr lang="pt-BR" sz="16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spcAft>
                <a:spcPts val="800"/>
              </a:spcAft>
              <a:buNone/>
            </a:pPr>
            <a:r>
              <a:rPr lang="pt-PT" sz="1600" b="1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1. Objetivos </a:t>
            </a:r>
            <a:endParaRPr lang="pt-BR" sz="16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spcAft>
                <a:spcPts val="800"/>
              </a:spcAft>
              <a:buNone/>
            </a:pPr>
            <a:r>
              <a:rPr lang="pt-PT" sz="1600" b="1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2. Cenário Problema</a:t>
            </a:r>
            <a:endParaRPr lang="pt-BR" sz="16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spcAft>
                <a:spcPts val="800"/>
              </a:spcAft>
              <a:buNone/>
            </a:pPr>
            <a:r>
              <a:rPr lang="pt-PT" sz="1600" b="1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3. Estado da Arte e da Prática</a:t>
            </a:r>
            <a:endParaRPr lang="pt-BR" sz="16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spcAft>
                <a:spcPts val="800"/>
              </a:spcAft>
              <a:buNone/>
            </a:pPr>
            <a:r>
              <a:rPr lang="pt-PT" sz="1600" b="1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4. Proposta de solução</a:t>
            </a:r>
            <a:endParaRPr lang="pt-BR" sz="16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spcAft>
                <a:spcPts val="800"/>
              </a:spcAft>
              <a:buNone/>
            </a:pPr>
            <a:r>
              <a:rPr lang="pt-PT" sz="1600" b="1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5. Procedimentos Metodológicos</a:t>
            </a:r>
            <a:endParaRPr lang="pt-BR" sz="16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spcAft>
                <a:spcPts val="800"/>
              </a:spcAft>
              <a:buNone/>
            </a:pPr>
            <a:r>
              <a:rPr lang="pt-PT" sz="1600" b="1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6. Desafios e Necessidades Técnicas </a:t>
            </a:r>
            <a:endParaRPr lang="pt-BR" sz="16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spcAft>
                <a:spcPts val="800"/>
              </a:spcAft>
              <a:buNone/>
            </a:pPr>
            <a:r>
              <a:rPr lang="pt-PT" sz="1600" b="1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7. Cronograma de Atividades</a:t>
            </a:r>
            <a:endParaRPr lang="pt-BR" sz="16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spcAft>
                <a:spcPts val="800"/>
              </a:spcAft>
              <a:buNone/>
            </a:pPr>
            <a:r>
              <a:rPr lang="pt-PT" sz="1600" b="1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8. Resultados esperados</a:t>
            </a:r>
            <a:endParaRPr lang="pt-BR" sz="16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spcAft>
                <a:spcPts val="800"/>
              </a:spcAft>
              <a:buNone/>
            </a:pPr>
            <a:r>
              <a:rPr lang="pt-PT" sz="1600" b="1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9. Cenário de Aplicação e Impactos</a:t>
            </a:r>
            <a:endParaRPr lang="pt-BR" sz="16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spcAft>
                <a:spcPts val="800"/>
              </a:spcAft>
              <a:buNone/>
            </a:pPr>
            <a:r>
              <a:rPr lang="de-DE" sz="1600" b="1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10. Nível de Maturidade Tecnológica</a:t>
            </a:r>
            <a:endParaRPr lang="pt-BR" sz="16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spcAft>
                <a:spcPts val="800"/>
              </a:spcAft>
              <a:buNone/>
            </a:pPr>
            <a:r>
              <a:rPr lang="pt-PT" sz="1600" b="1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11. Informações Adicionais</a:t>
            </a:r>
            <a:endParaRPr lang="pt-BR" sz="16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spcAft>
                <a:spcPts val="800"/>
              </a:spcAft>
              <a:buNone/>
            </a:pPr>
            <a:r>
              <a:rPr lang="pt-PT" sz="1600" b="1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Referências </a:t>
            </a:r>
            <a:endParaRPr lang="pt-BR" sz="16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8CEC45E-32F7-32EE-2735-E6DCD4AD8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Universidade Presbiteriana Mackenzie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BEE7B7-A649-8B20-2AEC-F9F460905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D3C51-E43C-41C0-9EA4-E8C681799A45}" type="slidenum">
              <a:rPr lang="en-US" smtClean="0"/>
              <a:t>4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E58630-79B4-00D8-847D-80CC895D399B}"/>
              </a:ext>
            </a:extLst>
          </p:cNvPr>
          <p:cNvSpPr txBox="1"/>
          <p:nvPr/>
        </p:nvSpPr>
        <p:spPr>
          <a:xfrm>
            <a:off x="333711" y="238048"/>
            <a:ext cx="5762289" cy="4544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lang="pt-BR" sz="1600" b="1" cap="all" dirty="0">
                <a:solidFill>
                  <a:srgbClr val="0F4761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TÍTULO DO SEU projeto</a:t>
            </a:r>
          </a:p>
          <a:p>
            <a:pPr algn="ctr">
              <a:spcAft>
                <a:spcPts val="800"/>
              </a:spcAft>
            </a:pPr>
            <a:r>
              <a:rPr lang="pt-BR" sz="2800" b="1" dirty="0">
                <a:solidFill>
                  <a:schemeClr val="accent1"/>
                </a:solidFill>
              </a:rPr>
              <a:t>Iniciação Científica</a:t>
            </a:r>
          </a:p>
          <a:p>
            <a:pPr algn="ctr">
              <a:lnSpc>
                <a:spcPct val="150000"/>
              </a:lnSpc>
              <a:spcAft>
                <a:spcPts val="800"/>
              </a:spcAft>
            </a:pPr>
            <a:endParaRPr lang="pt-BR" sz="1400" b="1" cap="all" dirty="0">
              <a:solidFill>
                <a:srgbClr val="0F4761"/>
              </a:solidFill>
              <a:latin typeface="Arial" panose="020B06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800"/>
              </a:spcAft>
              <a:buFont typeface="+mj-lt"/>
              <a:buAutoNum type="arabicPeriod"/>
            </a:pPr>
            <a:r>
              <a:rPr lang="pt-BR" sz="1600" b="1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ptos" panose="020B0004020202020204" pitchFamily="34" charset="0"/>
                <a:ea typeface="Arial" panose="020B0604020202020204" pitchFamily="34" charset="0"/>
                <a:cs typeface="Aptos" panose="020B0004020202020204" pitchFamily="34" charset="0"/>
              </a:rPr>
              <a:t>Introdução</a:t>
            </a:r>
            <a:endParaRPr lang="pt-BR" sz="16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spcAft>
                <a:spcPts val="800"/>
              </a:spcAft>
              <a:buFont typeface="+mj-lt"/>
              <a:buAutoNum type="arabicPeriod"/>
            </a:pPr>
            <a:r>
              <a:rPr lang="pt-BR" sz="1600" b="1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ptos" panose="020B0004020202020204" pitchFamily="34" charset="0"/>
                <a:ea typeface="Arial" panose="020B0604020202020204" pitchFamily="34" charset="0"/>
                <a:cs typeface="Aptos" panose="020B0004020202020204" pitchFamily="34" charset="0"/>
              </a:rPr>
              <a:t>Contexto</a:t>
            </a:r>
            <a:endParaRPr lang="pt-BR" sz="16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spcAft>
                <a:spcPts val="800"/>
              </a:spcAft>
              <a:buFont typeface="+mj-lt"/>
              <a:buAutoNum type="arabicPeriod"/>
            </a:pPr>
            <a:r>
              <a:rPr lang="pt-BR" sz="1600" b="1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ptos" panose="020B0004020202020204" pitchFamily="34" charset="0"/>
                <a:ea typeface="Arial" panose="020B0604020202020204" pitchFamily="34" charset="0"/>
                <a:cs typeface="Aptos" panose="020B0004020202020204" pitchFamily="34" charset="0"/>
              </a:rPr>
              <a:t>Problema</a:t>
            </a:r>
            <a:endParaRPr lang="pt-BR" sz="16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spcAft>
                <a:spcPts val="800"/>
              </a:spcAft>
              <a:buFont typeface="+mj-lt"/>
              <a:buAutoNum type="arabicPeriod"/>
            </a:pPr>
            <a:r>
              <a:rPr lang="pt-BR" sz="1600" b="1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ptos" panose="020B0004020202020204" pitchFamily="34" charset="0"/>
                <a:ea typeface="Arial" panose="020B0604020202020204" pitchFamily="34" charset="0"/>
                <a:cs typeface="Aptos" panose="020B0004020202020204" pitchFamily="34" charset="0"/>
              </a:rPr>
              <a:t>Objetivo</a:t>
            </a:r>
            <a:endParaRPr lang="pt-BR" sz="16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spcAft>
                <a:spcPts val="800"/>
              </a:spcAft>
              <a:buFont typeface="+mj-lt"/>
              <a:buAutoNum type="arabicPeriod"/>
            </a:pPr>
            <a:r>
              <a:rPr lang="pt-BR" sz="1600" b="1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ptos" panose="020B0004020202020204" pitchFamily="34" charset="0"/>
                <a:ea typeface="Arial" panose="020B0604020202020204" pitchFamily="34" charset="0"/>
                <a:cs typeface="Aptos" panose="020B0004020202020204" pitchFamily="34" charset="0"/>
              </a:rPr>
              <a:t>Justificativa</a:t>
            </a:r>
            <a:endParaRPr lang="pt-BR" sz="16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spcAft>
                <a:spcPts val="800"/>
              </a:spcAft>
              <a:buFont typeface="+mj-lt"/>
              <a:buAutoNum type="arabicPeriod"/>
            </a:pPr>
            <a:r>
              <a:rPr lang="pt-BR" sz="1600" b="1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ptos" panose="020B0004020202020204" pitchFamily="34" charset="0"/>
                <a:ea typeface="Arial" panose="020B0604020202020204" pitchFamily="34" charset="0"/>
                <a:cs typeface="Aptos" panose="020B0004020202020204" pitchFamily="34" charset="0"/>
              </a:rPr>
              <a:t>Referencial Teórico</a:t>
            </a:r>
            <a:endParaRPr lang="pt-BR" sz="16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spcAft>
                <a:spcPts val="800"/>
              </a:spcAft>
              <a:buFont typeface="+mj-lt"/>
              <a:buAutoNum type="arabicPeriod"/>
            </a:pPr>
            <a:r>
              <a:rPr lang="pt-BR" sz="1600" b="1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ptos" panose="020B0004020202020204" pitchFamily="34" charset="0"/>
                <a:ea typeface="Arial" panose="020B0604020202020204" pitchFamily="34" charset="0"/>
                <a:cs typeface="Aptos" panose="020B0004020202020204" pitchFamily="34" charset="0"/>
              </a:rPr>
              <a:t>Procedimentos Metodológicos</a:t>
            </a:r>
            <a:endParaRPr lang="pt-BR" sz="16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spcAft>
                <a:spcPts val="800"/>
              </a:spcAft>
              <a:buFont typeface="+mj-lt"/>
              <a:buAutoNum type="arabicPeriod"/>
            </a:pPr>
            <a:r>
              <a:rPr lang="pt-BR" sz="1600" b="1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ptos" panose="020B0004020202020204" pitchFamily="34" charset="0"/>
                <a:ea typeface="Arial" panose="020B0604020202020204" pitchFamily="34" charset="0"/>
                <a:cs typeface="Aptos" panose="020B0004020202020204" pitchFamily="34" charset="0"/>
              </a:rPr>
              <a:t>Cronograma (com duração de 12 meses)</a:t>
            </a:r>
            <a:endParaRPr lang="pt-BR" sz="16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spcAft>
                <a:spcPts val="800"/>
              </a:spcAft>
              <a:buNone/>
            </a:pPr>
            <a:r>
              <a:rPr lang="pt-BR" sz="1600" b="1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ptos" panose="020B0004020202020204" pitchFamily="34" charset="0"/>
                <a:ea typeface="Arial" panose="020B0604020202020204" pitchFamily="34" charset="0"/>
                <a:cs typeface="Aptos" panose="020B0004020202020204" pitchFamily="34" charset="0"/>
              </a:rPr>
              <a:t>Referências</a:t>
            </a:r>
            <a:endParaRPr lang="pt-BR" sz="16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82A3612-BFC3-13AB-C1CB-0322E81E5293}"/>
              </a:ext>
            </a:extLst>
          </p:cNvPr>
          <p:cNvCxnSpPr/>
          <p:nvPr/>
        </p:nvCxnSpPr>
        <p:spPr>
          <a:xfrm>
            <a:off x="580405" y="1229711"/>
            <a:ext cx="106320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E81891F-BAC8-37BD-2023-77E024151288}"/>
              </a:ext>
            </a:extLst>
          </p:cNvPr>
          <p:cNvSpPr txBox="1"/>
          <p:nvPr/>
        </p:nvSpPr>
        <p:spPr>
          <a:xfrm>
            <a:off x="333711" y="5259984"/>
            <a:ext cx="107424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/>
              <a:t>Propostas de Projeto</a:t>
            </a:r>
          </a:p>
        </p:txBody>
      </p:sp>
    </p:spTree>
    <p:extLst>
      <p:ext uri="{BB962C8B-B14F-4D97-AF65-F5344CB8AC3E}">
        <p14:creationId xmlns:p14="http://schemas.microsoft.com/office/powerpoint/2010/main" val="4104778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AD3CB-7573-9340-BCC8-8C9F33AC0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19B941A-9C7E-584E-D98E-4B3A56B68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Universidade Presbiteriana Mackenzie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C1991C-C74E-6F63-69D1-8C5F7F179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D3C51-E43C-41C0-9EA4-E8C681799A45}" type="slidenum">
              <a:rPr lang="en-US" smtClean="0"/>
              <a:t>5</a:t>
            </a:fld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689D0C-BAAF-18CF-758A-81F2336EB198}"/>
              </a:ext>
            </a:extLst>
          </p:cNvPr>
          <p:cNvSpPr txBox="1"/>
          <p:nvPr/>
        </p:nvSpPr>
        <p:spPr>
          <a:xfrm>
            <a:off x="428658" y="5190773"/>
            <a:ext cx="11048418" cy="58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dirty="0"/>
              <a:t>Avaliação às cegas; 2 avaliadores; notas mais altas recebem bolsa Mackenzie ou CNPq.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DCEE0A-EE9D-704F-5C25-2F3BE9550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9326" y="2035221"/>
            <a:ext cx="5052269" cy="2743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BBE908-33FB-C814-F766-FE65EACC5A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405" y="2050987"/>
            <a:ext cx="5532823" cy="21031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AD76A8-E542-5B12-3E8F-A01B08D9CB35}"/>
              </a:ext>
            </a:extLst>
          </p:cNvPr>
          <p:cNvSpPr txBox="1"/>
          <p:nvPr/>
        </p:nvSpPr>
        <p:spPr>
          <a:xfrm>
            <a:off x="557934" y="1060069"/>
            <a:ext cx="57622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lang="pt-BR" sz="2800" b="1" dirty="0">
                <a:solidFill>
                  <a:schemeClr val="accent1"/>
                </a:solidFill>
              </a:rPr>
              <a:t>Iniciação Científica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FE0241-88E6-2F7F-451A-5BDA62BD68EF}"/>
              </a:ext>
            </a:extLst>
          </p:cNvPr>
          <p:cNvSpPr txBox="1"/>
          <p:nvPr/>
        </p:nvSpPr>
        <p:spPr>
          <a:xfrm>
            <a:off x="5866534" y="1046963"/>
            <a:ext cx="5762289" cy="87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lang="pt-BR" sz="2800" b="1" dirty="0">
                <a:solidFill>
                  <a:schemeClr val="accent1"/>
                </a:solidFill>
              </a:rPr>
              <a:t>Tecnológica e Inovação</a:t>
            </a:r>
          </a:p>
          <a:p>
            <a:pPr algn="just">
              <a:spcAft>
                <a:spcPts val="800"/>
              </a:spcAft>
              <a:buNone/>
            </a:pPr>
            <a:endParaRPr lang="pt-BR" sz="16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78D036-C5DF-8AA7-418E-6DF9F536E8F6}"/>
              </a:ext>
            </a:extLst>
          </p:cNvPr>
          <p:cNvSpPr txBox="1"/>
          <p:nvPr/>
        </p:nvSpPr>
        <p:spPr>
          <a:xfrm>
            <a:off x="470046" y="212174"/>
            <a:ext cx="107424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/>
              <a:t>Avaliação dos Projetos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85DD177-B94F-6C18-BAB1-EB2581D86755}"/>
              </a:ext>
            </a:extLst>
          </p:cNvPr>
          <p:cNvCxnSpPr>
            <a:cxnSpLocks/>
          </p:cNvCxnSpPr>
          <p:nvPr/>
        </p:nvCxnSpPr>
        <p:spPr>
          <a:xfrm>
            <a:off x="580405" y="1545028"/>
            <a:ext cx="11048418" cy="36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7586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4116C-DEAE-4F72-7969-432439658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EDA27BE-27E6-CE26-3135-A75BDF457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Universidade Presbiteriana Mackenzie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928F7C-D6ED-1910-8B0D-AC5C59B10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D3C51-E43C-41C0-9EA4-E8C681799A45}" type="slidenum">
              <a:rPr lang="en-US" smtClean="0"/>
              <a:t>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1F5B90-080D-2EE5-43C6-09C50060E2D9}"/>
              </a:ext>
            </a:extLst>
          </p:cNvPr>
          <p:cNvSpPr txBox="1"/>
          <p:nvPr/>
        </p:nvSpPr>
        <p:spPr>
          <a:xfrm>
            <a:off x="782157" y="288524"/>
            <a:ext cx="96230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/>
              <a:t>Modalidades: PIBIC/PIVIC e PIBITI/PIVITI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2B1EAD-C96B-7688-BDB4-EE60E53D2C9A}"/>
              </a:ext>
            </a:extLst>
          </p:cNvPr>
          <p:cNvSpPr txBox="1"/>
          <p:nvPr/>
        </p:nvSpPr>
        <p:spPr>
          <a:xfrm>
            <a:off x="782157" y="1397501"/>
            <a:ext cx="10430326" cy="5226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800" b="1" dirty="0"/>
              <a:t>Iniciação Científica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400" dirty="0"/>
              <a:t>Programa Institucional de Bolsas de Iniciação Científica (PIBIC)</a:t>
            </a:r>
            <a:endParaRPr lang="pt-BR" sz="24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4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Programa Institucional Voluntário de Iniciação Científica (PIVIC)</a:t>
            </a:r>
          </a:p>
          <a:p>
            <a:endParaRPr lang="pt-BR" sz="28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pt-BR" sz="2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Iniciação Tecnológica e Inovação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4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Programa Institucional </a:t>
            </a:r>
            <a:r>
              <a:rPr lang="pt-BR" sz="2400" dirty="0"/>
              <a:t>de Bolsas</a:t>
            </a:r>
            <a:r>
              <a:rPr lang="pt-BR" sz="24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de Iniciação Tecnológica e Inovação (PIBITI)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4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Programa Institucional Voluntário de Iniciação Tecnológica e Inovação (PIVITI)</a:t>
            </a:r>
          </a:p>
          <a:p>
            <a:endParaRPr lang="pt-BR" sz="2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pt-BR" sz="2800" dirty="0"/>
          </a:p>
          <a:p>
            <a:pPr>
              <a:lnSpc>
                <a:spcPct val="150000"/>
              </a:lnSpc>
            </a:pP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4167359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AC481-C352-0038-FD00-EAA123DAE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9B5D5C7-EB1F-DD78-CFE7-D56743576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Universidade Presbiteriana Mackenzie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2A6CB0-0893-A068-5D1C-B1B9DE514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D3C51-E43C-41C0-9EA4-E8C681799A45}" type="slidenum">
              <a:rPr lang="en-US" smtClean="0"/>
              <a:t>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C04CC6-76FE-4BB1-F9D0-FF2999900F5E}"/>
              </a:ext>
            </a:extLst>
          </p:cNvPr>
          <p:cNvSpPr txBox="1"/>
          <p:nvPr/>
        </p:nvSpPr>
        <p:spPr>
          <a:xfrm>
            <a:off x="782157" y="288524"/>
            <a:ext cx="96230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/>
              <a:t>Quem pode participar?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4EBC2B-2F41-AA92-5084-48E2665CB6AB}"/>
              </a:ext>
            </a:extLst>
          </p:cNvPr>
          <p:cNvSpPr txBox="1"/>
          <p:nvPr/>
        </p:nvSpPr>
        <p:spPr>
          <a:xfrm>
            <a:off x="782157" y="1161015"/>
            <a:ext cx="10430326" cy="4989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b="1" dirty="0"/>
              <a:t>Alunos regularmente matriculados, </a:t>
            </a:r>
            <a:r>
              <a:rPr lang="pt-BR" sz="28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até antepenúltimo semestre do curso</a:t>
            </a:r>
            <a:r>
              <a:rPr lang="pt-BR" sz="2800" b="1" dirty="0"/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b="1" dirty="0"/>
              <a:t>Ter interesse em desenvolver pesquisa acadêmica ou tecnológica.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2000" b="1" dirty="0"/>
          </a:p>
          <a:p>
            <a:pPr>
              <a:lnSpc>
                <a:spcPct val="150000"/>
              </a:lnSpc>
            </a:pPr>
            <a:r>
              <a:rPr lang="pt-BR" sz="2000" b="1" dirty="0"/>
              <a:t>        Exclusivo para bolsas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Não acumular bolsa com outras do Mackenzie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Não possuir grau de parentesco, em linha direta, com o orientador;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Na condição de bolsista não é permitido possuir vínculo empregatício em regime CLT, possuir vínculo com serviço público (ser concursado), participar do programa Jovem Aprendiz ou exercer atividades como autônomo, gerando recebimento de renda; </a:t>
            </a:r>
            <a:r>
              <a:rPr lang="pt-BR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Estágio Remunerado é permitido.</a:t>
            </a:r>
            <a:endParaRPr lang="pt-BR" sz="280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1086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5CED8-4C7B-2120-8DB5-7333F00F7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D72D1E1-0189-BEE6-F1C2-72225B722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Universidade Presbiteriana Mackenzie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B773AF-0232-BE88-D66D-19F867E46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D3C51-E43C-41C0-9EA4-E8C681799A45}" type="slidenum">
              <a:rPr lang="en-US" smtClean="0"/>
              <a:t>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C28F88-484A-1C97-D63C-0D290ED1D307}"/>
              </a:ext>
            </a:extLst>
          </p:cNvPr>
          <p:cNvSpPr txBox="1"/>
          <p:nvPr/>
        </p:nvSpPr>
        <p:spPr>
          <a:xfrm>
            <a:off x="782157" y="288524"/>
            <a:ext cx="96230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/>
              <a:t>Por onde começar?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9ADD60-0135-F277-8BC1-A85EFC6C6CA5}"/>
              </a:ext>
            </a:extLst>
          </p:cNvPr>
          <p:cNvSpPr txBox="1"/>
          <p:nvPr/>
        </p:nvSpPr>
        <p:spPr>
          <a:xfrm>
            <a:off x="782157" y="1161015"/>
            <a:ext cx="10430326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dirty="0"/>
              <a:t>Qual o seu programa de interesse? IC ou ITI?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dirty="0"/>
              <a:t>Verifique sua elegibilidade (semestre, possibilidade de bolsa etc.).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dirty="0"/>
              <a:t>Converse com um professor sobre o seu projeto.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dirty="0"/>
              <a:t>Escreva e revise o seu projeto com o seu orientador.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dirty="0"/>
              <a:t>Submeta o seu projeto até </a:t>
            </a:r>
            <a:r>
              <a:rPr lang="pt-BR" sz="28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06.04 IC </a:t>
            </a:r>
            <a:r>
              <a:rPr lang="pt-BR" sz="2800" dirty="0"/>
              <a:t>ou </a:t>
            </a:r>
            <a:r>
              <a:rPr lang="pt-BR" sz="28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14.04 ITI</a:t>
            </a:r>
            <a:r>
              <a:rPr lang="pt-BR" sz="2800" dirty="0"/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2800" dirty="0"/>
          </a:p>
          <a:p>
            <a:pPr lvl="5">
              <a:lnSpc>
                <a:spcPct val="150000"/>
              </a:lnSpc>
            </a:pPr>
            <a:r>
              <a:rPr lang="pt-BR" sz="2800" dirty="0"/>
              <a:t>                                        </a:t>
            </a:r>
            <a:r>
              <a:rPr lang="pt-BR" sz="28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Não deixe para última hora... </a:t>
            </a:r>
            <a:r>
              <a:rPr lang="pt-BR" sz="28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 </a:t>
            </a:r>
            <a:endParaRPr lang="pt-BR" sz="2800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280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" name="Graphic 6" descr="Blueprint with solid fill">
            <a:extLst>
              <a:ext uri="{FF2B5EF4-FFF2-40B4-BE49-F238E27FC236}">
                <a16:creationId xmlns:a16="http://schemas.microsoft.com/office/drawing/2014/main" id="{E98FB483-E9ED-893F-B481-DD70203B1B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2157" y="4684575"/>
            <a:ext cx="1330544" cy="1330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710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DD8F7AC-5F0B-CE9B-F5DA-6C55ABE3EF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6773" y="731520"/>
            <a:ext cx="3719893" cy="5257800"/>
          </a:xfrm>
          <a:prstGeom prst="rect">
            <a:avLst/>
          </a:prstGeom>
          <a:noFill/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A901572-5E8F-E66D-3231-2EAB3E5A3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pt-BR"/>
              <a:t>Universidade Presbiteriana Mackenzie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5E29CB-CD89-491A-B663-71242DBA9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05D3C51-E43C-41C0-9EA4-E8C681799A45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32E9433-5B6D-C83A-FC5F-7FBC7B4B86FB}"/>
              </a:ext>
            </a:extLst>
          </p:cNvPr>
          <p:cNvGrpSpPr/>
          <p:nvPr/>
        </p:nvGrpSpPr>
        <p:grpSpPr>
          <a:xfrm>
            <a:off x="102476" y="1353067"/>
            <a:ext cx="3922472" cy="3409309"/>
            <a:chOff x="215188" y="701918"/>
            <a:chExt cx="3922472" cy="3409309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C4570EA-57D4-5E9B-E55E-EA1F00AFB57C}"/>
                </a:ext>
              </a:extLst>
            </p:cNvPr>
            <p:cNvGrpSpPr/>
            <p:nvPr/>
          </p:nvGrpSpPr>
          <p:grpSpPr>
            <a:xfrm>
              <a:off x="215188" y="3589684"/>
              <a:ext cx="3922472" cy="521543"/>
              <a:chOff x="142036" y="3980921"/>
              <a:chExt cx="3922472" cy="521543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710536C-D46B-507E-AC90-63FF345D9143}"/>
                  </a:ext>
                </a:extLst>
              </p:cNvPr>
              <p:cNvSpPr txBox="1"/>
              <p:nvPr/>
            </p:nvSpPr>
            <p:spPr>
              <a:xfrm>
                <a:off x="142036" y="3980921"/>
                <a:ext cx="3922472" cy="3268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0000" tIns="45000" rIns="90000" bIns="45000" anchorCtr="0" compatLnSpc="0">
                <a:spAutoFit/>
              </a:bodyPr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r>
                  <a:rPr lang="pt-BR" sz="1600" b="1" i="0" u="none" strike="noStrike" kern="1200" cap="none" dirty="0">
                    <a:ln>
                      <a:noFill/>
                    </a:ln>
                    <a:solidFill>
                      <a:srgbClr val="FFFFFF"/>
                    </a:solidFill>
                    <a:latin typeface="Liberation Sans" pitchFamily="18"/>
                    <a:ea typeface="AR PL SungtiL GB" pitchFamily="2"/>
                    <a:cs typeface="Lohit Devanagari" pitchFamily="2"/>
                  </a:rPr>
                  <a:t>Universidade Presbiteriana Mackenzie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6DD019-A2B5-16A7-CF95-A3665561F6FA}"/>
                  </a:ext>
                </a:extLst>
              </p:cNvPr>
              <p:cNvSpPr txBox="1"/>
              <p:nvPr/>
            </p:nvSpPr>
            <p:spPr>
              <a:xfrm>
                <a:off x="142036" y="4249361"/>
                <a:ext cx="2894360" cy="2531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0000" tIns="45000" rIns="90000" bIns="45000" anchorCtr="0" compatLnSpc="0">
                <a:spAutoFit/>
              </a:bodyPr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r>
                  <a:rPr lang="pt-BR" sz="1100" b="1" i="0" u="none" strike="noStrike" kern="1200" cap="none" dirty="0">
                    <a:ln>
                      <a:noFill/>
                    </a:ln>
                    <a:solidFill>
                      <a:srgbClr val="FFFFFF"/>
                    </a:solidFill>
                    <a:latin typeface="Liberation Sans" pitchFamily="18"/>
                    <a:ea typeface="AR PL SungtiL GB" pitchFamily="2"/>
                    <a:cs typeface="Lohit Devanagari" pitchFamily="2"/>
                  </a:rPr>
                  <a:t>Faculdade de Computação e Informática</a:t>
                </a:r>
              </a:p>
            </p:txBody>
          </p:sp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5481FB3-F422-336F-8EF2-ABC0D60C91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/>
              <a:alphaModFix/>
            </a:blip>
            <a:srcRect/>
            <a:stretch>
              <a:fillRect/>
            </a:stretch>
          </p:blipFill>
          <p:spPr>
            <a:xfrm>
              <a:off x="713574" y="701918"/>
              <a:ext cx="2847976" cy="2887766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038667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48862-6F18-1981-39C3-FC040EBA4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52692F0-3E3D-D8BD-30A3-E9D038A9AF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1394" y="430194"/>
            <a:ext cx="2121655" cy="2998806"/>
          </a:xfrm>
          <a:prstGeom prst="rect">
            <a:avLst/>
          </a:prstGeom>
          <a:noFill/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44E2246-D097-4FCD-AFC3-2BB095017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pt-BR"/>
              <a:t>Universidade Presbiteriana Mackenzie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B77009-5578-D928-E307-8DE351BF8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05D3C51-E43C-41C0-9EA4-E8C681799A45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B504D11-1F3A-8872-FAD2-2348E3395317}"/>
              </a:ext>
            </a:extLst>
          </p:cNvPr>
          <p:cNvGrpSpPr/>
          <p:nvPr/>
        </p:nvGrpSpPr>
        <p:grpSpPr>
          <a:xfrm>
            <a:off x="102476" y="1353067"/>
            <a:ext cx="3922472" cy="3409309"/>
            <a:chOff x="215188" y="701918"/>
            <a:chExt cx="3922472" cy="3409309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462289E-8D25-F447-E472-F85317A3D801}"/>
                </a:ext>
              </a:extLst>
            </p:cNvPr>
            <p:cNvGrpSpPr/>
            <p:nvPr/>
          </p:nvGrpSpPr>
          <p:grpSpPr>
            <a:xfrm>
              <a:off x="215188" y="3589684"/>
              <a:ext cx="3922472" cy="521543"/>
              <a:chOff x="142036" y="3980921"/>
              <a:chExt cx="3922472" cy="521543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3E3E392-F281-E289-3FE8-E3BF02CA93B0}"/>
                  </a:ext>
                </a:extLst>
              </p:cNvPr>
              <p:cNvSpPr txBox="1"/>
              <p:nvPr/>
            </p:nvSpPr>
            <p:spPr>
              <a:xfrm>
                <a:off x="142036" y="3980921"/>
                <a:ext cx="3922472" cy="3268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0000" tIns="45000" rIns="90000" bIns="45000" anchorCtr="0" compatLnSpc="0">
                <a:spAutoFit/>
              </a:bodyPr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r>
                  <a:rPr lang="pt-BR" sz="1600" b="1" i="0" u="none" strike="noStrike" kern="1200" cap="none" dirty="0">
                    <a:ln>
                      <a:noFill/>
                    </a:ln>
                    <a:solidFill>
                      <a:srgbClr val="FFFFFF"/>
                    </a:solidFill>
                    <a:latin typeface="Liberation Sans" pitchFamily="18"/>
                    <a:ea typeface="AR PL SungtiL GB" pitchFamily="2"/>
                    <a:cs typeface="Lohit Devanagari" pitchFamily="2"/>
                  </a:rPr>
                  <a:t>Universidade Presbiteriana Mackenzie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70225FF-395D-DBA9-F216-7A72AE6DAA78}"/>
                  </a:ext>
                </a:extLst>
              </p:cNvPr>
              <p:cNvSpPr txBox="1"/>
              <p:nvPr/>
            </p:nvSpPr>
            <p:spPr>
              <a:xfrm>
                <a:off x="142036" y="4249361"/>
                <a:ext cx="2894360" cy="2531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0000" tIns="45000" rIns="90000" bIns="45000" anchorCtr="0" compatLnSpc="0">
                <a:spAutoFit/>
              </a:bodyPr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r>
                  <a:rPr lang="pt-BR" sz="1100" b="1" i="0" u="none" strike="noStrike" kern="1200" cap="none" dirty="0">
                    <a:ln>
                      <a:noFill/>
                    </a:ln>
                    <a:solidFill>
                      <a:srgbClr val="FFFFFF"/>
                    </a:solidFill>
                    <a:latin typeface="Liberation Sans" pitchFamily="18"/>
                    <a:ea typeface="AR PL SungtiL GB" pitchFamily="2"/>
                    <a:cs typeface="Lohit Devanagari" pitchFamily="2"/>
                  </a:rPr>
                  <a:t>Faculdade de Computação e Informática</a:t>
                </a:r>
              </a:p>
            </p:txBody>
          </p:sp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7DD7C2C-1E3B-2260-E83E-5B65A4F639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/>
              <a:alphaModFix/>
            </a:blip>
            <a:srcRect/>
            <a:stretch>
              <a:fillRect/>
            </a:stretch>
          </p:blipFill>
          <p:spPr>
            <a:xfrm>
              <a:off x="713574" y="701918"/>
              <a:ext cx="2847976" cy="288776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5015752-8D1B-BDED-DABF-BB7D55313D7F}"/>
              </a:ext>
            </a:extLst>
          </p:cNvPr>
          <p:cNvSpPr txBox="1"/>
          <p:nvPr/>
        </p:nvSpPr>
        <p:spPr>
          <a:xfrm>
            <a:off x="4463098" y="5221845"/>
            <a:ext cx="6093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ITI</a:t>
            </a:r>
            <a:r>
              <a:rPr lang="pt-BR" dirty="0"/>
              <a:t> https://www.mackenzie.br/ambiente-de-inovacao-e-empreendedorismo/contato/iniciacao-tecnologica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77AE43-6C29-E725-9D34-553AF16E80CF}"/>
              </a:ext>
            </a:extLst>
          </p:cNvPr>
          <p:cNvSpPr txBox="1"/>
          <p:nvPr/>
        </p:nvSpPr>
        <p:spPr>
          <a:xfrm>
            <a:off x="4463098" y="3804088"/>
            <a:ext cx="60933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IC</a:t>
            </a:r>
            <a:r>
              <a:rPr lang="pt-BR" dirty="0"/>
              <a:t> https://www.mackenzie.br/universidade/pro-reitorias/pro-reitoria-de-pesquisa-e-pos-graduacao-prpg/coordenadoria-de-fomento-a-pesquisa-cfp/iniciacao-cientifica-e-tecnologica/editais-formularios-inscricoes-e-resultados</a:t>
            </a:r>
          </a:p>
        </p:txBody>
      </p:sp>
    </p:spTree>
    <p:extLst>
      <p:ext uri="{BB962C8B-B14F-4D97-AF65-F5344CB8AC3E}">
        <p14:creationId xmlns:p14="http://schemas.microsoft.com/office/powerpoint/2010/main" val="61686295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C8BB0621-FA98-416B-A0A4-BE4A9345D386}" vid="{7E4FCFFC-E285-4C93-A7A7-F12A812FE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template_slides</Template>
  <TotalTime>20295</TotalTime>
  <Words>514</Words>
  <Application>Microsoft Office PowerPoint</Application>
  <PresentationFormat>Widescreen</PresentationFormat>
  <Paragraphs>103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Liberation Sans</vt:lpstr>
      <vt:lpstr>Wingdings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GUSTAVO SCALABRINI SAMPAIO</dc:creator>
  <cp:lastModifiedBy>ROGERIO DE OLIVEIRA</cp:lastModifiedBy>
  <cp:revision>683</cp:revision>
  <dcterms:created xsi:type="dcterms:W3CDTF">2021-08-08T22:11:33Z</dcterms:created>
  <dcterms:modified xsi:type="dcterms:W3CDTF">2026-03-16T20:00:01Z</dcterms:modified>
</cp:coreProperties>
</file>